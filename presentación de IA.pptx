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78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U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8066298-8BA4-5F45-B46D-4F77D837915C}" type="datetimeFigureOut">
              <a:rPr lang="es-US" smtClean="0"/>
              <a:t>3/11/2026</a:t>
            </a:fld>
            <a:endParaRPr lang="es-U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U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64AFF8-CE54-4940-A688-200AA551DB17}" type="slidenum">
              <a:rPr lang="es-US" smtClean="0"/>
              <a:t>‹Nº›</a:t>
            </a:fld>
            <a:endParaRPr lang="es-US"/>
          </a:p>
        </p:txBody>
      </p:sp>
    </p:spTree>
    <p:extLst>
      <p:ext uri="{BB962C8B-B14F-4D97-AF65-F5344CB8AC3E}">
        <p14:creationId xmlns:p14="http://schemas.microsoft.com/office/powerpoint/2010/main" val="17897595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s-US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73152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es-US"/>
          </a:p>
        </p:txBody>
      </p:sp>
      <p:sp>
        <p:nvSpPr>
          <p:cNvPr id="4" name="Text 2"/>
          <p:cNvSpPr/>
          <p:nvPr/>
        </p:nvSpPr>
        <p:spPr>
          <a:xfrm>
            <a:off x="457200" y="10058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Naive Bayes con KDE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457200" y="19202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818C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Mantenimiento Predictivo — AI4I 2020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457200" y="2606040"/>
            <a:ext cx="1920240" cy="347472"/>
          </a:xfrm>
          <a:prstGeom prst="roundRect">
            <a:avLst>
              <a:gd name="adj" fmla="val 13158"/>
            </a:avLst>
          </a:prstGeom>
          <a:solidFill>
            <a:srgbClr val="6366F1">
              <a:alpha val="30000"/>
            </a:srgbClr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s-US"/>
          </a:p>
        </p:txBody>
      </p:sp>
      <p:sp>
        <p:nvSpPr>
          <p:cNvPr id="7" name="Text 5"/>
          <p:cNvSpPr/>
          <p:nvPr/>
        </p:nvSpPr>
        <p:spPr>
          <a:xfrm>
            <a:off x="457200" y="26060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18CF8"/>
                </a:solidFill>
              </a:rPr>
              <a:t>10,000 registros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60320" y="2606040"/>
            <a:ext cx="1920240" cy="347472"/>
          </a:xfrm>
          <a:prstGeom prst="roundRect">
            <a:avLst>
              <a:gd name="adj" fmla="val 13158"/>
            </a:avLst>
          </a:prstGeom>
          <a:solidFill>
            <a:srgbClr val="6366F1">
              <a:alpha val="30000"/>
            </a:srgbClr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s-US"/>
          </a:p>
        </p:txBody>
      </p:sp>
      <p:sp>
        <p:nvSpPr>
          <p:cNvPr id="9" name="Text 7"/>
          <p:cNvSpPr/>
          <p:nvPr/>
        </p:nvSpPr>
        <p:spPr>
          <a:xfrm>
            <a:off x="2560320" y="26060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18CF8"/>
                </a:solidFill>
              </a:rPr>
              <a:t>4 modelos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2606040"/>
            <a:ext cx="1920240" cy="347472"/>
          </a:xfrm>
          <a:prstGeom prst="roundRect">
            <a:avLst>
              <a:gd name="adj" fmla="val 13158"/>
            </a:avLst>
          </a:prstGeom>
          <a:solidFill>
            <a:srgbClr val="6366F1">
              <a:alpha val="30000"/>
            </a:srgbClr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s-US"/>
          </a:p>
        </p:txBody>
      </p:sp>
      <p:sp>
        <p:nvSpPr>
          <p:cNvPr id="11" name="Text 9"/>
          <p:cNvSpPr/>
          <p:nvPr/>
        </p:nvSpPr>
        <p:spPr>
          <a:xfrm>
            <a:off x="4663440" y="26060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18CF8"/>
                </a:solidFill>
              </a:rPr>
              <a:t>5-Fold CV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766560" y="2606040"/>
            <a:ext cx="1920240" cy="347472"/>
          </a:xfrm>
          <a:prstGeom prst="roundRect">
            <a:avLst>
              <a:gd name="adj" fmla="val 13158"/>
            </a:avLst>
          </a:prstGeom>
          <a:solidFill>
            <a:srgbClr val="6366F1">
              <a:alpha val="30000"/>
            </a:srgbClr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s-US"/>
          </a:p>
        </p:txBody>
      </p:sp>
      <p:sp>
        <p:nvSpPr>
          <p:cNvPr id="13" name="Text 11"/>
          <p:cNvSpPr/>
          <p:nvPr/>
        </p:nvSpPr>
        <p:spPr>
          <a:xfrm>
            <a:off x="6766560" y="260604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18CF8"/>
                </a:solidFill>
              </a:rPr>
              <a:t>AUC-ROC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4114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US" sz="1300" dirty="0">
                <a:solidFill>
                  <a:srgbClr val="94A3B8"/>
                </a:solidFill>
                <a:latin typeface="Calibri" pitchFamily="34" charset="0"/>
              </a:rPr>
              <a:t>Nicolás Barrios 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Jopson Arias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s-US"/>
          </a:p>
        </p:txBody>
      </p:sp>
      <p:sp>
        <p:nvSpPr>
          <p:cNvPr id="3" name="Text 1"/>
          <p:cNvSpPr/>
          <p:nvPr/>
        </p:nvSpPr>
        <p:spPr>
          <a:xfrm>
            <a:off x="365760" y="27432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Estructura 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206240" cy="1078992"/>
          </a:xfrm>
          <a:prstGeom prst="rect">
            <a:avLst/>
          </a:prstGeom>
          <a:solidFill>
            <a:srgbClr val="1E293B"/>
          </a:solidFill>
          <a:ln w="12700">
            <a:solidFill>
              <a:srgbClr val="818CF8"/>
            </a:solidFill>
            <a:prstDash val="solid"/>
          </a:ln>
          <a:effectLst>
            <a:outerShdw blurRad="762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US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64008" cy="107899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s-US"/>
          </a:p>
        </p:txBody>
      </p:sp>
      <p:sp>
        <p:nvSpPr>
          <p:cNvPr id="6" name="Text 4"/>
          <p:cNvSpPr/>
          <p:nvPr/>
        </p:nvSpPr>
        <p:spPr>
          <a:xfrm>
            <a:off x="502920" y="109728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18CF8"/>
                </a:solidFill>
              </a:rPr>
              <a:t>0:00–1:00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02920" y="135331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Problema &amp; Dataset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66420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¿Qué queremos predecir y con qué datos?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00600" y="1005840"/>
            <a:ext cx="4206240" cy="1078992"/>
          </a:xfrm>
          <a:prstGeom prst="rect">
            <a:avLst/>
          </a:prstGeom>
          <a:solidFill>
            <a:srgbClr val="1E293B"/>
          </a:solidFill>
          <a:ln w="12700">
            <a:solidFill>
              <a:srgbClr val="818CF8"/>
            </a:solidFill>
            <a:prstDash val="solid"/>
          </a:ln>
          <a:effectLst>
            <a:outerShdw blurRad="762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US"/>
          </a:p>
        </p:txBody>
      </p:sp>
      <p:sp>
        <p:nvSpPr>
          <p:cNvPr id="10" name="Shape 8"/>
          <p:cNvSpPr/>
          <p:nvPr/>
        </p:nvSpPr>
        <p:spPr>
          <a:xfrm>
            <a:off x="4800600" y="1005840"/>
            <a:ext cx="64008" cy="107899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s-US"/>
          </a:p>
        </p:txBody>
      </p:sp>
      <p:sp>
        <p:nvSpPr>
          <p:cNvPr id="11" name="Text 9"/>
          <p:cNvSpPr/>
          <p:nvPr/>
        </p:nvSpPr>
        <p:spPr>
          <a:xfrm>
            <a:off x="4937760" y="109728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18CF8"/>
                </a:solidFill>
              </a:rPr>
              <a:t>1:00–3:00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937760" y="135331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Preprocesamiento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37760" y="166420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Limpieza, data leakage y balanceo 3:1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4206240" cy="1078992"/>
          </a:xfrm>
          <a:prstGeom prst="rect">
            <a:avLst/>
          </a:prstGeom>
          <a:solidFill>
            <a:srgbClr val="1E293B"/>
          </a:solidFill>
          <a:ln w="12700">
            <a:solidFill>
              <a:srgbClr val="818CF8"/>
            </a:solidFill>
            <a:prstDash val="solid"/>
          </a:ln>
          <a:effectLst>
            <a:outerShdw blurRad="762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US"/>
          </a:p>
        </p:txBody>
      </p:sp>
      <p:sp>
        <p:nvSpPr>
          <p:cNvPr id="15" name="Shape 13"/>
          <p:cNvSpPr/>
          <p:nvPr/>
        </p:nvSpPr>
        <p:spPr>
          <a:xfrm>
            <a:off x="365760" y="2240280"/>
            <a:ext cx="64008" cy="107899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s-US"/>
          </a:p>
        </p:txBody>
      </p:sp>
      <p:sp>
        <p:nvSpPr>
          <p:cNvPr id="16" name="Text 14"/>
          <p:cNvSpPr/>
          <p:nvPr/>
        </p:nvSpPr>
        <p:spPr>
          <a:xfrm>
            <a:off x="502920" y="233172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18CF8"/>
                </a:solidFill>
              </a:rPr>
              <a:t>3:00–6:00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02920" y="258775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KDE Naive Bayes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02920" y="289864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Teoría del clasificador implementado desde cero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00600" y="2240280"/>
            <a:ext cx="4206240" cy="1078992"/>
          </a:xfrm>
          <a:prstGeom prst="rect">
            <a:avLst/>
          </a:prstGeom>
          <a:solidFill>
            <a:srgbClr val="1E293B"/>
          </a:solidFill>
          <a:ln w="12700">
            <a:solidFill>
              <a:srgbClr val="818CF8"/>
            </a:solidFill>
            <a:prstDash val="solid"/>
          </a:ln>
          <a:effectLst>
            <a:outerShdw blurRad="762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US"/>
          </a:p>
        </p:txBody>
      </p:sp>
      <p:sp>
        <p:nvSpPr>
          <p:cNvPr id="20" name="Shape 18"/>
          <p:cNvSpPr/>
          <p:nvPr/>
        </p:nvSpPr>
        <p:spPr>
          <a:xfrm>
            <a:off x="4800600" y="2240280"/>
            <a:ext cx="64008" cy="107899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s-US"/>
          </a:p>
        </p:txBody>
      </p:sp>
      <p:sp>
        <p:nvSpPr>
          <p:cNvPr id="21" name="Text 19"/>
          <p:cNvSpPr/>
          <p:nvPr/>
        </p:nvSpPr>
        <p:spPr>
          <a:xfrm>
            <a:off x="4937760" y="233172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18CF8"/>
                </a:solidFill>
              </a:rPr>
              <a:t>6:00–9:00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937760" y="258775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Optimización &amp; CV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937760" y="289864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Bandwidth óptimo y validación cruzada 5-fold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3474720"/>
            <a:ext cx="4206240" cy="1078992"/>
          </a:xfrm>
          <a:prstGeom prst="rect">
            <a:avLst/>
          </a:prstGeom>
          <a:solidFill>
            <a:srgbClr val="1E293B"/>
          </a:solidFill>
          <a:ln w="12700">
            <a:solidFill>
              <a:srgbClr val="818CF8"/>
            </a:solidFill>
            <a:prstDash val="solid"/>
          </a:ln>
          <a:effectLst>
            <a:outerShdw blurRad="762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US"/>
          </a:p>
        </p:txBody>
      </p:sp>
      <p:sp>
        <p:nvSpPr>
          <p:cNvPr id="25" name="Shape 23"/>
          <p:cNvSpPr/>
          <p:nvPr/>
        </p:nvSpPr>
        <p:spPr>
          <a:xfrm>
            <a:off x="365760" y="3474720"/>
            <a:ext cx="64008" cy="107899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s-US"/>
          </a:p>
        </p:txBody>
      </p:sp>
      <p:sp>
        <p:nvSpPr>
          <p:cNvPr id="26" name="Text 24"/>
          <p:cNvSpPr/>
          <p:nvPr/>
        </p:nvSpPr>
        <p:spPr>
          <a:xfrm>
            <a:off x="502920" y="356616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18CF8"/>
                </a:solidFill>
              </a:rPr>
              <a:t>9:00–13:00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02920" y="382219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Resultados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02920" y="413308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Comparación de 4 modelos, ROC y métricas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00600" y="3474720"/>
            <a:ext cx="4206240" cy="1078992"/>
          </a:xfrm>
          <a:prstGeom prst="rect">
            <a:avLst/>
          </a:prstGeom>
          <a:solidFill>
            <a:srgbClr val="1E293B"/>
          </a:solidFill>
          <a:ln w="12700">
            <a:solidFill>
              <a:srgbClr val="818CF8"/>
            </a:solidFill>
            <a:prstDash val="solid"/>
          </a:ln>
          <a:effectLst>
            <a:outerShdw blurRad="762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s-US"/>
          </a:p>
        </p:txBody>
      </p:sp>
      <p:sp>
        <p:nvSpPr>
          <p:cNvPr id="30" name="Shape 28"/>
          <p:cNvSpPr/>
          <p:nvPr/>
        </p:nvSpPr>
        <p:spPr>
          <a:xfrm>
            <a:off x="4800600" y="3474720"/>
            <a:ext cx="64008" cy="1078992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s-US"/>
          </a:p>
        </p:txBody>
      </p:sp>
      <p:sp>
        <p:nvSpPr>
          <p:cNvPr id="31" name="Text 29"/>
          <p:cNvSpPr/>
          <p:nvPr/>
        </p:nvSpPr>
        <p:spPr>
          <a:xfrm>
            <a:off x="4937760" y="356616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18CF8"/>
                </a:solidFill>
              </a:rPr>
              <a:t>13:00–15:00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937760" y="3822192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Conclusiones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937760" y="413308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4A3B8"/>
                </a:solidFill>
              </a:rPr>
              <a:t>Hallazgos clave y mejoras futuras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s-US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Problema &amp; Dataset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18CF8"/>
                </a:solidFill>
              </a:rPr>
              <a:t>AI4I 2020 Predictive Maintenance Dataset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196596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s-US"/>
          </a:p>
        </p:txBody>
      </p:sp>
      <p:sp>
        <p:nvSpPr>
          <p:cNvPr id="6" name="Text 4"/>
          <p:cNvSpPr/>
          <p:nvPr/>
        </p:nvSpPr>
        <p:spPr>
          <a:xfrm>
            <a:off x="365760" y="1298448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818CF8"/>
                </a:solidFill>
              </a:rPr>
              <a:t>10,000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365760" y="18288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</a:rPr>
              <a:t>Registros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14600" y="1234440"/>
            <a:ext cx="196596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s-US"/>
          </a:p>
        </p:txBody>
      </p:sp>
      <p:sp>
        <p:nvSpPr>
          <p:cNvPr id="9" name="Text 7"/>
          <p:cNvSpPr/>
          <p:nvPr/>
        </p:nvSpPr>
        <p:spPr>
          <a:xfrm>
            <a:off x="2514600" y="1298448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818CF8"/>
                </a:solidFill>
              </a:rPr>
              <a:t>14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514600" y="18288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</a:rPr>
              <a:t>Columnas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663440" y="1234440"/>
            <a:ext cx="196596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s-US"/>
          </a:p>
        </p:txBody>
      </p:sp>
      <p:sp>
        <p:nvSpPr>
          <p:cNvPr id="12" name="Text 10"/>
          <p:cNvSpPr/>
          <p:nvPr/>
        </p:nvSpPr>
        <p:spPr>
          <a:xfrm>
            <a:off x="4663440" y="1298448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818CF8"/>
                </a:solidFill>
              </a:rPr>
              <a:t>3.4%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663440" y="18288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</a:rPr>
              <a:t>Tasa de falla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812280" y="1234440"/>
            <a:ext cx="196596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s-US"/>
          </a:p>
        </p:txBody>
      </p:sp>
      <p:sp>
        <p:nvSpPr>
          <p:cNvPr id="15" name="Text 13"/>
          <p:cNvSpPr/>
          <p:nvPr/>
        </p:nvSpPr>
        <p:spPr>
          <a:xfrm>
            <a:off x="6812280" y="1298448"/>
            <a:ext cx="1965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818CF8"/>
                </a:solidFill>
              </a:rPr>
              <a:t>28:1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6812280" y="1828800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</a:rPr>
              <a:t>Ratio desbalance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5760" y="24688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Variables predictoras usadas: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65760" y="2834640"/>
            <a:ext cx="41148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</a:rPr>
              <a:t>Air temperature [K]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</a:rPr>
              <a:t>Process temperature [K]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</a:rPr>
              <a:t>Rotational speed [rpm]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</a:rPr>
              <a:t>Torque [Nm]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</a:rPr>
              <a:t>Tool wear [min]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</a:rPr>
              <a:t>Type (One-Hot Encoded)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754880" y="2468880"/>
            <a:ext cx="4114800" cy="2286000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US"/>
          </a:p>
        </p:txBody>
      </p:sp>
      <p:sp>
        <p:nvSpPr>
          <p:cNvPr id="20" name="Text 18"/>
          <p:cNvSpPr/>
          <p:nvPr/>
        </p:nvSpPr>
        <p:spPr>
          <a:xfrm>
            <a:off x="4754880" y="26060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9E0B"/>
                </a:solidFill>
              </a:rPr>
              <a:t>🎯 Objetivo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4937760" y="3017520"/>
            <a:ext cx="3749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2E8F0"/>
                </a:solidFill>
              </a:rPr>
              <a:t>Predecir si una máquina industrial fallará (Machine failure = 0 o 1) antes de que ocurra la avería.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937760" y="416052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59E0B"/>
                </a:solidFill>
              </a:rPr>
              <a:t>⚠️ 96.6% accuracy predic. siempre '0' sin detectar fallas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s-US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Preprocesamiento en 3 Pasos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1097280"/>
          </a:xfrm>
          <a:prstGeom prst="rect">
            <a:avLst/>
          </a:prstGeom>
          <a:solidFill>
            <a:srgbClr val="1E293B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US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73152" cy="109728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US"/>
          </a:p>
        </p:txBody>
      </p:sp>
      <p:sp>
        <p:nvSpPr>
          <p:cNvPr id="6" name="Text 4"/>
          <p:cNvSpPr/>
          <p:nvPr/>
        </p:nvSpPr>
        <p:spPr>
          <a:xfrm>
            <a:off x="502920" y="105156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F4444"/>
                </a:solidFill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02920" y="14813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Eliminar Data Leakage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468880" y="1097280"/>
            <a:ext cx="6126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</a:rPr>
              <a:t>UDI, Product ID → solo identificadores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</a:rPr>
              <a:t>TWF, HDF, PWF, OSF, RNF → sub-causas del fallo (trampa)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</a:rPr>
              <a:t>Type → One-Hot Encoding antes de usar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286000"/>
            <a:ext cx="8412480" cy="1097280"/>
          </a:xfrm>
          <a:prstGeom prst="rect">
            <a:avLst/>
          </a:prstGeom>
          <a:solidFill>
            <a:srgbClr val="1E293B"/>
          </a:solidFill>
          <a:ln w="1270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es-US"/>
          </a:p>
        </p:txBody>
      </p:sp>
      <p:sp>
        <p:nvSpPr>
          <p:cNvPr id="10" name="Shape 8"/>
          <p:cNvSpPr/>
          <p:nvPr/>
        </p:nvSpPr>
        <p:spPr>
          <a:xfrm>
            <a:off x="365760" y="2286000"/>
            <a:ext cx="73152" cy="109728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es-US"/>
          </a:p>
        </p:txBody>
      </p:sp>
      <p:sp>
        <p:nvSpPr>
          <p:cNvPr id="11" name="Text 9"/>
          <p:cNvSpPr/>
          <p:nvPr/>
        </p:nvSpPr>
        <p:spPr>
          <a:xfrm>
            <a:off x="502920" y="233172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818CF8"/>
                </a:solidFill>
              </a:rPr>
              <a:t>02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02920" y="276148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Separar X / 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468880" y="2377440"/>
            <a:ext cx="6126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</a:rPr>
              <a:t>X = todas excepto 'Machine failure'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</a:rPr>
              <a:t>y = columna 'Machine failure'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</a:rPr>
              <a:t>Escalado con StandardScaler (media=0, std=1)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3566160"/>
            <a:ext cx="8412480" cy="1097280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s-US"/>
          </a:p>
        </p:txBody>
      </p:sp>
      <p:sp>
        <p:nvSpPr>
          <p:cNvPr id="15" name="Shape 13"/>
          <p:cNvSpPr/>
          <p:nvPr/>
        </p:nvSpPr>
        <p:spPr>
          <a:xfrm>
            <a:off x="365760" y="3566160"/>
            <a:ext cx="73152" cy="109728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s-US"/>
          </a:p>
        </p:txBody>
      </p:sp>
      <p:sp>
        <p:nvSpPr>
          <p:cNvPr id="16" name="Text 14"/>
          <p:cNvSpPr/>
          <p:nvPr/>
        </p:nvSpPr>
        <p:spPr>
          <a:xfrm>
            <a:off x="502920" y="361188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0B981"/>
                </a:solidFill>
              </a:rPr>
              <a:t>03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02920" y="404164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Balanceo Undersampling 3:1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468880" y="3657600"/>
            <a:ext cx="6126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</a:rPr>
              <a:t>Ratio 3:1 (3 normales por cada falla)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</a:rPr>
              <a:t>SOLO dentro del fold de entrenamiento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</a:rPr>
              <a:t>Datos de validación: siempre originales (sin contaminar)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s-US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KDE Naive Bayes — Implementado desde Cero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4023360" cy="1828800"/>
          </a:xfrm>
          <a:prstGeom prst="rect">
            <a:avLst/>
          </a:prstGeom>
          <a:solidFill>
            <a:srgbClr val="1E293B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US"/>
          </a:p>
        </p:txBody>
      </p:sp>
      <p:sp>
        <p:nvSpPr>
          <p:cNvPr id="5" name="Text 3"/>
          <p:cNvSpPr/>
          <p:nvPr/>
        </p:nvSpPr>
        <p:spPr>
          <a:xfrm>
            <a:off x="365760" y="9144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F4444"/>
                </a:solidFill>
              </a:rPr>
              <a:t>GaussianNB (Baseline)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298448"/>
            <a:ext cx="37490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</a:rPr>
              <a:t>Asume distribución Normal perfecta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</a:rPr>
              <a:t>Parámetros: solo media y varianza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</a:rPr>
              <a:t>Rápido pero inflexible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868680"/>
            <a:ext cx="4023360" cy="1828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s-US"/>
          </a:p>
        </p:txBody>
      </p:sp>
      <p:sp>
        <p:nvSpPr>
          <p:cNvPr id="8" name="Text 6"/>
          <p:cNvSpPr/>
          <p:nvPr/>
        </p:nvSpPr>
        <p:spPr>
          <a:xfrm>
            <a:off x="4754880" y="9144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B981"/>
                </a:solidFill>
              </a:rPr>
              <a:t>KDE Naive Bayes (Nuestro)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892040" y="1298448"/>
            <a:ext cx="374904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</a:rPr>
              <a:t>Aprende la distribución real de los datos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</a:rPr>
              <a:t>Cada punto genera una 'campana' (kernel)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</a:rPr>
              <a:t>Bandwidth controla suavidad de la curva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288036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 Kernels implementados: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3291840"/>
            <a:ext cx="2697480" cy="1463040"/>
          </a:xfrm>
          <a:prstGeom prst="rect">
            <a:avLst/>
          </a:prstGeom>
          <a:solidFill>
            <a:srgbClr val="1E293B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s-US"/>
          </a:p>
        </p:txBody>
      </p:sp>
      <p:sp>
        <p:nvSpPr>
          <p:cNvPr id="12" name="Text 10"/>
          <p:cNvSpPr/>
          <p:nvPr/>
        </p:nvSpPr>
        <p:spPr>
          <a:xfrm>
            <a:off x="365760" y="3364992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B981"/>
                </a:solidFill>
              </a:rPr>
              <a:t>Gaussian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374904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</a:rPr>
              <a:t>Campana suave. Densidad siempre &gt; 0. Mejor rendimiento.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200400" y="3291840"/>
            <a:ext cx="2697480" cy="1463040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es-US"/>
          </a:p>
        </p:txBody>
      </p:sp>
      <p:sp>
        <p:nvSpPr>
          <p:cNvPr id="15" name="Text 13"/>
          <p:cNvSpPr/>
          <p:nvPr/>
        </p:nvSpPr>
        <p:spPr>
          <a:xfrm>
            <a:off x="3200400" y="3364992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</a:rPr>
              <a:t>Parzen / Tophat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291840" y="374904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</a:rPr>
              <a:t>Rectangular. Puede dar densidad 0 → NaN sin epsilon.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035040" y="3291840"/>
            <a:ext cx="2697480" cy="1463040"/>
          </a:xfrm>
          <a:prstGeom prst="rect">
            <a:avLst/>
          </a:prstGeom>
          <a:solidFill>
            <a:srgbClr val="1E293B"/>
          </a:solidFill>
          <a:ln w="1270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es-US"/>
          </a:p>
        </p:txBody>
      </p:sp>
      <p:sp>
        <p:nvSpPr>
          <p:cNvPr id="18" name="Text 16"/>
          <p:cNvSpPr/>
          <p:nvPr/>
        </p:nvSpPr>
        <p:spPr>
          <a:xfrm>
            <a:off x="6035040" y="3364992"/>
            <a:ext cx="2697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18CF8"/>
                </a:solidFill>
              </a:rPr>
              <a:t>Silverman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126480" y="3749040"/>
            <a:ext cx="2514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</a:rPr>
              <a:t>Bandwidth automático con fórmula estadística.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s-US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Error crítico resuelto: NaN con kernel Tophat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8412480" cy="1097280"/>
          </a:xfrm>
          <a:prstGeom prst="rect">
            <a:avLst/>
          </a:prstGeom>
          <a:solidFill>
            <a:srgbClr val="1F0000"/>
          </a:solidFill>
          <a:ln w="1270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s-US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F4444"/>
                </a:solidFill>
              </a:rPr>
              <a:t>❌ Problema — Sin epsilon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26187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log_lik_raw = self.kdes_[c][j].score_samples(X)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CA5A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log_post[:, i] += log_lik_raw   # ❌ puede ser -inf → NaN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65760" y="2084832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18CF8"/>
                </a:solidFill>
              </a:rPr>
              <a:t>↓  Solución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5760" y="2450592"/>
            <a:ext cx="8412480" cy="1188720"/>
          </a:xfrm>
          <a:prstGeom prst="rect">
            <a:avLst/>
          </a:prstGeom>
          <a:solidFill>
            <a:srgbClr val="001A0F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s-US"/>
          </a:p>
        </p:txBody>
      </p:sp>
      <p:sp>
        <p:nvSpPr>
          <p:cNvPr id="9" name="Text 7"/>
          <p:cNvSpPr/>
          <p:nvPr/>
        </p:nvSpPr>
        <p:spPr>
          <a:xfrm>
            <a:off x="457200" y="24963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</a:rPr>
              <a:t>✅ Solución — Con epsilon = 1e-10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2798064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log_lik_raw = self.kdes_[c][j].score_samples(X)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dens = np.exp(log_lik_raw) + self.epsilon   # ✅ nunca es 0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EE7B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log_post[:, i] += np.log(dens)              # ✅ nunca es -inf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37947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4A3B8"/>
                </a:solidFill>
              </a:rPr>
              <a:t>1e-10 es tan pequeño que NO afecta el resultado matemático, solo evita el log(0).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s-US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Optimización del Bandwidth &amp; 5-Fold CV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4160520" cy="2011680"/>
          </a:xfrm>
          <a:prstGeom prst="rect">
            <a:avLst/>
          </a:prstGeom>
          <a:solidFill>
            <a:srgbClr val="1E293B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s-US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18CF8"/>
                </a:solidFill>
              </a:rPr>
              <a:t>¿Qué es el Bandwidth?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298448"/>
            <a:ext cx="39776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</a:rPr>
              <a:t>Controla cuán suave o detallada es la curva KDE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</a:rPr>
              <a:t>Muy pequeño → sobreajuste (wiggly)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94A3B8"/>
                </a:solidFill>
              </a:rPr>
              <a:t>Muy grande → suavizado excesivo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0B981"/>
                </a:solidFill>
              </a:rPr>
              <a:t>Óptimo → mejor AUC-ROC en validación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09160" y="868680"/>
            <a:ext cx="4114800" cy="2011680"/>
          </a:xfrm>
          <a:prstGeom prst="rect">
            <a:avLst/>
          </a:prstGeom>
          <a:solidFill>
            <a:srgbClr val="1E293B"/>
          </a:solidFill>
          <a:ln w="1270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es-US"/>
          </a:p>
        </p:txBody>
      </p:sp>
      <p:sp>
        <p:nvSpPr>
          <p:cNvPr id="8" name="Text 6"/>
          <p:cNvSpPr/>
          <p:nvPr/>
        </p:nvSpPr>
        <p:spPr>
          <a:xfrm>
            <a:off x="4800600" y="9144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18CF8"/>
                </a:solidFill>
              </a:rPr>
              <a:t>Búsqueda del valor óptimo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00600" y="1298448"/>
            <a:ext cx="393192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</a:rPr>
              <a:t>Escala logarítmica: 10⁻² a 10⁰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</a:rPr>
              <a:t>GridSearchCV con 5 folds internos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</a:rPr>
              <a:t>Métrica de selección: AUC-ROC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0B981"/>
                </a:solidFill>
              </a:rPr>
              <a:t>Resultado: h ≈ 0.3–0.5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" y="306324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Validación Cruzada 5-Fold (StratifiedKFold)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3493008"/>
            <a:ext cx="1554480" cy="548640"/>
          </a:xfrm>
          <a:prstGeom prst="rect">
            <a:avLst/>
          </a:prstGeom>
          <a:solidFill>
            <a:srgbClr val="6366F1"/>
          </a:solidFill>
          <a:ln w="1270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es-US"/>
          </a:p>
        </p:txBody>
      </p:sp>
      <p:sp>
        <p:nvSpPr>
          <p:cNvPr id="12" name="Text 10"/>
          <p:cNvSpPr/>
          <p:nvPr/>
        </p:nvSpPr>
        <p:spPr>
          <a:xfrm>
            <a:off x="365760" y="349300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Fold 1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✓ Test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057400" y="3493008"/>
            <a:ext cx="1554480" cy="548640"/>
          </a:xfrm>
          <a:prstGeom prst="rect">
            <a:avLst/>
          </a:prstGeom>
          <a:solidFill>
            <a:srgbClr val="1E293B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s-US"/>
          </a:p>
        </p:txBody>
      </p:sp>
      <p:sp>
        <p:nvSpPr>
          <p:cNvPr id="14" name="Text 12"/>
          <p:cNvSpPr/>
          <p:nvPr/>
        </p:nvSpPr>
        <p:spPr>
          <a:xfrm>
            <a:off x="2057400" y="349300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Fold 2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Train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749040" y="3493008"/>
            <a:ext cx="1554480" cy="548640"/>
          </a:xfrm>
          <a:prstGeom prst="rect">
            <a:avLst/>
          </a:prstGeom>
          <a:solidFill>
            <a:srgbClr val="6366F1"/>
          </a:solidFill>
          <a:ln w="1270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es-US"/>
          </a:p>
        </p:txBody>
      </p:sp>
      <p:sp>
        <p:nvSpPr>
          <p:cNvPr id="16" name="Text 14"/>
          <p:cNvSpPr/>
          <p:nvPr/>
        </p:nvSpPr>
        <p:spPr>
          <a:xfrm>
            <a:off x="3749040" y="349300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Fold 3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✓ Test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440680" y="3493008"/>
            <a:ext cx="1554480" cy="548640"/>
          </a:xfrm>
          <a:prstGeom prst="rect">
            <a:avLst/>
          </a:prstGeom>
          <a:solidFill>
            <a:srgbClr val="1E293B"/>
          </a:solidFill>
          <a:ln w="12700">
            <a:solidFill>
              <a:srgbClr val="94A3B8"/>
            </a:solidFill>
            <a:prstDash val="solid"/>
          </a:ln>
        </p:spPr>
        <p:txBody>
          <a:bodyPr/>
          <a:lstStyle/>
          <a:p>
            <a:endParaRPr lang="es-US"/>
          </a:p>
        </p:txBody>
      </p:sp>
      <p:sp>
        <p:nvSpPr>
          <p:cNvPr id="18" name="Text 16"/>
          <p:cNvSpPr/>
          <p:nvPr/>
        </p:nvSpPr>
        <p:spPr>
          <a:xfrm>
            <a:off x="5440680" y="349300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Fold 4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Train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7132320" y="3493008"/>
            <a:ext cx="1554480" cy="548640"/>
          </a:xfrm>
          <a:prstGeom prst="rect">
            <a:avLst/>
          </a:prstGeom>
          <a:solidFill>
            <a:srgbClr val="6366F1"/>
          </a:solidFill>
          <a:ln w="1270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es-US"/>
          </a:p>
        </p:txBody>
      </p:sp>
      <p:sp>
        <p:nvSpPr>
          <p:cNvPr id="20" name="Text 18"/>
          <p:cNvSpPr/>
          <p:nvPr/>
        </p:nvSpPr>
        <p:spPr>
          <a:xfrm>
            <a:off x="7132320" y="3493008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Fold 5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</a:rPr>
              <a:t>✓ Test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65760" y="4224528"/>
            <a:ext cx="8412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</a:rPr>
              <a:t>Stratified: mantiene la proporción de clases en cada fold  •  Balanceo SOLO en train, nunca en test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s-US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Resultados — Comparación de 4 Modelos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2011680" cy="3657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s-US"/>
          </a:p>
        </p:txBody>
      </p:sp>
      <p:sp>
        <p:nvSpPr>
          <p:cNvPr id="5" name="Text 3"/>
          <p:cNvSpPr/>
          <p:nvPr/>
        </p:nvSpPr>
        <p:spPr>
          <a:xfrm>
            <a:off x="365760" y="9144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Modelo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423160" y="914400"/>
            <a:ext cx="1371600" cy="3657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s-US"/>
          </a:p>
        </p:txBody>
      </p:sp>
      <p:sp>
        <p:nvSpPr>
          <p:cNvPr id="7" name="Text 5"/>
          <p:cNvSpPr/>
          <p:nvPr/>
        </p:nvSpPr>
        <p:spPr>
          <a:xfrm>
            <a:off x="2423160" y="9144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AUC-ROC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840480" y="914400"/>
            <a:ext cx="1371600" cy="3657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s-US"/>
          </a:p>
        </p:txBody>
      </p:sp>
      <p:sp>
        <p:nvSpPr>
          <p:cNvPr id="9" name="Text 7"/>
          <p:cNvSpPr/>
          <p:nvPr/>
        </p:nvSpPr>
        <p:spPr>
          <a:xfrm>
            <a:off x="3840480" y="91440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Accuracy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257800" y="914400"/>
            <a:ext cx="1645920" cy="3657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s-US"/>
          </a:p>
        </p:txBody>
      </p:sp>
      <p:sp>
        <p:nvSpPr>
          <p:cNvPr id="11" name="Text 9"/>
          <p:cNvSpPr/>
          <p:nvPr/>
        </p:nvSpPr>
        <p:spPr>
          <a:xfrm>
            <a:off x="5257800" y="9144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Recall (Fallas)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949440" y="914400"/>
            <a:ext cx="2377440" cy="36576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s-US"/>
          </a:p>
        </p:txBody>
      </p:sp>
      <p:sp>
        <p:nvSpPr>
          <p:cNvPr id="13" name="Text 11"/>
          <p:cNvSpPr/>
          <p:nvPr/>
        </p:nvSpPr>
        <p:spPr>
          <a:xfrm>
            <a:off x="6949440" y="9144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Ventaja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65760" y="1325880"/>
            <a:ext cx="2011680" cy="64008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es-US"/>
          </a:p>
        </p:txBody>
      </p:sp>
      <p:sp>
        <p:nvSpPr>
          <p:cNvPr id="15" name="Shape 13"/>
          <p:cNvSpPr/>
          <p:nvPr/>
        </p:nvSpPr>
        <p:spPr>
          <a:xfrm>
            <a:off x="2423160" y="1325880"/>
            <a:ext cx="1371600" cy="64008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es-US"/>
          </a:p>
        </p:txBody>
      </p:sp>
      <p:sp>
        <p:nvSpPr>
          <p:cNvPr id="16" name="Shape 14"/>
          <p:cNvSpPr/>
          <p:nvPr/>
        </p:nvSpPr>
        <p:spPr>
          <a:xfrm>
            <a:off x="3840480" y="1325880"/>
            <a:ext cx="1371600" cy="64008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es-US"/>
          </a:p>
        </p:txBody>
      </p:sp>
      <p:sp>
        <p:nvSpPr>
          <p:cNvPr id="17" name="Shape 15"/>
          <p:cNvSpPr/>
          <p:nvPr/>
        </p:nvSpPr>
        <p:spPr>
          <a:xfrm>
            <a:off x="5257800" y="1325880"/>
            <a:ext cx="1645920" cy="64008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es-US"/>
          </a:p>
        </p:txBody>
      </p:sp>
      <p:sp>
        <p:nvSpPr>
          <p:cNvPr id="18" name="Shape 16"/>
          <p:cNvSpPr/>
          <p:nvPr/>
        </p:nvSpPr>
        <p:spPr>
          <a:xfrm>
            <a:off x="6949440" y="1325880"/>
            <a:ext cx="2377440" cy="64008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es-US"/>
          </a:p>
        </p:txBody>
      </p:sp>
      <p:sp>
        <p:nvSpPr>
          <p:cNvPr id="19" name="Text 17"/>
          <p:cNvSpPr/>
          <p:nvPr/>
        </p:nvSpPr>
        <p:spPr>
          <a:xfrm>
            <a:off x="365760" y="132588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2E8F0"/>
                </a:solidFill>
              </a:rPr>
              <a:t>GaussianNB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423160" y="132588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</a:rPr>
              <a:t>0.87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840480" y="132588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</a:rPr>
              <a:t>91.2%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257800" y="13258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</a:rPr>
              <a:t>72%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949440" y="13258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</a:rPr>
              <a:t>Baseline, rápido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65760" y="2057400"/>
            <a:ext cx="2011680" cy="640080"/>
          </a:xfrm>
          <a:prstGeom prst="rect">
            <a:avLst/>
          </a:prstGeom>
          <a:solidFill>
            <a:srgbClr val="1A1F3A"/>
          </a:solidFill>
          <a:ln w="1270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es-US"/>
          </a:p>
        </p:txBody>
      </p:sp>
      <p:sp>
        <p:nvSpPr>
          <p:cNvPr id="25" name="Shape 23"/>
          <p:cNvSpPr/>
          <p:nvPr/>
        </p:nvSpPr>
        <p:spPr>
          <a:xfrm>
            <a:off x="2423160" y="2057400"/>
            <a:ext cx="1371600" cy="640080"/>
          </a:xfrm>
          <a:prstGeom prst="rect">
            <a:avLst/>
          </a:prstGeom>
          <a:solidFill>
            <a:srgbClr val="1A1F3A"/>
          </a:solidFill>
          <a:ln w="1270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es-US"/>
          </a:p>
        </p:txBody>
      </p:sp>
      <p:sp>
        <p:nvSpPr>
          <p:cNvPr id="26" name="Shape 24"/>
          <p:cNvSpPr/>
          <p:nvPr/>
        </p:nvSpPr>
        <p:spPr>
          <a:xfrm>
            <a:off x="3840480" y="2057400"/>
            <a:ext cx="1371600" cy="640080"/>
          </a:xfrm>
          <a:prstGeom prst="rect">
            <a:avLst/>
          </a:prstGeom>
          <a:solidFill>
            <a:srgbClr val="1A1F3A"/>
          </a:solidFill>
          <a:ln w="1270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es-US"/>
          </a:p>
        </p:txBody>
      </p:sp>
      <p:sp>
        <p:nvSpPr>
          <p:cNvPr id="27" name="Shape 25"/>
          <p:cNvSpPr/>
          <p:nvPr/>
        </p:nvSpPr>
        <p:spPr>
          <a:xfrm>
            <a:off x="5257800" y="2057400"/>
            <a:ext cx="1645920" cy="640080"/>
          </a:xfrm>
          <a:prstGeom prst="rect">
            <a:avLst/>
          </a:prstGeom>
          <a:solidFill>
            <a:srgbClr val="1A1F3A"/>
          </a:solidFill>
          <a:ln w="1270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es-US"/>
          </a:p>
        </p:txBody>
      </p:sp>
      <p:sp>
        <p:nvSpPr>
          <p:cNvPr id="28" name="Shape 26"/>
          <p:cNvSpPr/>
          <p:nvPr/>
        </p:nvSpPr>
        <p:spPr>
          <a:xfrm>
            <a:off x="6949440" y="2057400"/>
            <a:ext cx="2377440" cy="640080"/>
          </a:xfrm>
          <a:prstGeom prst="rect">
            <a:avLst/>
          </a:prstGeom>
          <a:solidFill>
            <a:srgbClr val="1A1F3A"/>
          </a:solidFill>
          <a:ln w="12700">
            <a:solidFill>
              <a:srgbClr val="818CF8"/>
            </a:solidFill>
            <a:prstDash val="solid"/>
          </a:ln>
        </p:spPr>
        <p:txBody>
          <a:bodyPr/>
          <a:lstStyle/>
          <a:p>
            <a:endParaRPr lang="es-US"/>
          </a:p>
        </p:txBody>
      </p:sp>
      <p:sp>
        <p:nvSpPr>
          <p:cNvPr id="29" name="Text 27"/>
          <p:cNvSpPr/>
          <p:nvPr/>
        </p:nvSpPr>
        <p:spPr>
          <a:xfrm>
            <a:off x="365760" y="205740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</a:rPr>
              <a:t>KDE Gaussian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423160" y="205740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18CF8"/>
                </a:solidFill>
              </a:rPr>
              <a:t>0.91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840480" y="205740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93.5%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257800" y="20574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79%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949440" y="205740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</a:rPr>
              <a:t>Mejor AUC ✅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365760" y="2788920"/>
            <a:ext cx="2011680" cy="64008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es-US"/>
          </a:p>
        </p:txBody>
      </p:sp>
      <p:sp>
        <p:nvSpPr>
          <p:cNvPr id="35" name="Shape 33"/>
          <p:cNvSpPr/>
          <p:nvPr/>
        </p:nvSpPr>
        <p:spPr>
          <a:xfrm>
            <a:off x="2423160" y="2788920"/>
            <a:ext cx="1371600" cy="64008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es-US"/>
          </a:p>
        </p:txBody>
      </p:sp>
      <p:sp>
        <p:nvSpPr>
          <p:cNvPr id="36" name="Shape 34"/>
          <p:cNvSpPr/>
          <p:nvPr/>
        </p:nvSpPr>
        <p:spPr>
          <a:xfrm>
            <a:off x="3840480" y="2788920"/>
            <a:ext cx="1371600" cy="64008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es-US"/>
          </a:p>
        </p:txBody>
      </p:sp>
      <p:sp>
        <p:nvSpPr>
          <p:cNvPr id="37" name="Shape 35"/>
          <p:cNvSpPr/>
          <p:nvPr/>
        </p:nvSpPr>
        <p:spPr>
          <a:xfrm>
            <a:off x="5257800" y="2788920"/>
            <a:ext cx="1645920" cy="64008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es-US"/>
          </a:p>
        </p:txBody>
      </p:sp>
      <p:sp>
        <p:nvSpPr>
          <p:cNvPr id="38" name="Shape 36"/>
          <p:cNvSpPr/>
          <p:nvPr/>
        </p:nvSpPr>
        <p:spPr>
          <a:xfrm>
            <a:off x="6949440" y="2788920"/>
            <a:ext cx="2377440" cy="64008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es-US"/>
          </a:p>
        </p:txBody>
      </p:sp>
      <p:sp>
        <p:nvSpPr>
          <p:cNvPr id="39" name="Text 37"/>
          <p:cNvSpPr/>
          <p:nvPr/>
        </p:nvSpPr>
        <p:spPr>
          <a:xfrm>
            <a:off x="365760" y="27889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2E8F0"/>
                </a:solidFill>
              </a:rPr>
              <a:t>KDE Parzen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2423160" y="27889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</a:rPr>
              <a:t>0.88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3840480" y="27889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</a:rPr>
              <a:t>92.1%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257800" y="27889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</a:rPr>
              <a:t>75%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949440" y="278892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</a:rPr>
              <a:t>Requiere epsilon fix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365760" y="3520440"/>
            <a:ext cx="2011680" cy="64008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es-US"/>
          </a:p>
        </p:txBody>
      </p:sp>
      <p:sp>
        <p:nvSpPr>
          <p:cNvPr id="45" name="Shape 43"/>
          <p:cNvSpPr/>
          <p:nvPr/>
        </p:nvSpPr>
        <p:spPr>
          <a:xfrm>
            <a:off x="2423160" y="3520440"/>
            <a:ext cx="1371600" cy="64008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es-US"/>
          </a:p>
        </p:txBody>
      </p:sp>
      <p:sp>
        <p:nvSpPr>
          <p:cNvPr id="46" name="Shape 44"/>
          <p:cNvSpPr/>
          <p:nvPr/>
        </p:nvSpPr>
        <p:spPr>
          <a:xfrm>
            <a:off x="3840480" y="3520440"/>
            <a:ext cx="1371600" cy="64008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es-US"/>
          </a:p>
        </p:txBody>
      </p:sp>
      <p:sp>
        <p:nvSpPr>
          <p:cNvPr id="47" name="Shape 45"/>
          <p:cNvSpPr/>
          <p:nvPr/>
        </p:nvSpPr>
        <p:spPr>
          <a:xfrm>
            <a:off x="5257800" y="3520440"/>
            <a:ext cx="1645920" cy="64008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es-US"/>
          </a:p>
        </p:txBody>
      </p:sp>
      <p:sp>
        <p:nvSpPr>
          <p:cNvPr id="48" name="Shape 46"/>
          <p:cNvSpPr/>
          <p:nvPr/>
        </p:nvSpPr>
        <p:spPr>
          <a:xfrm>
            <a:off x="6949440" y="3520440"/>
            <a:ext cx="2377440" cy="640080"/>
          </a:xfrm>
          <a:prstGeom prst="rect">
            <a:avLst/>
          </a:prstGeom>
          <a:solidFill>
            <a:srgbClr val="1E293B"/>
          </a:solidFill>
          <a:ln w="12700">
            <a:solidFill>
              <a:srgbClr val="2D3748"/>
            </a:solidFill>
            <a:prstDash val="solid"/>
          </a:ln>
        </p:spPr>
        <p:txBody>
          <a:bodyPr/>
          <a:lstStyle/>
          <a:p>
            <a:endParaRPr lang="es-US"/>
          </a:p>
        </p:txBody>
      </p:sp>
      <p:sp>
        <p:nvSpPr>
          <p:cNvPr id="49" name="Text 47"/>
          <p:cNvSpPr/>
          <p:nvPr/>
        </p:nvSpPr>
        <p:spPr>
          <a:xfrm>
            <a:off x="365760" y="35204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E2E8F0"/>
                </a:solidFill>
              </a:rPr>
              <a:t>KDE Silverman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2423160" y="35204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</a:rPr>
              <a:t>0.89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3840480" y="35204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</a:rPr>
              <a:t>92.8%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5257800" y="35204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2E8F0"/>
                </a:solidFill>
              </a:rPr>
              <a:t>77%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6949440" y="352044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</a:rPr>
              <a:t>Bandwidth automático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365760" y="452628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</a:rPr>
              <a:t>Métrica principal: AUC-ROC — mide separabilidad entre clases, robusta al desbalance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6366F1"/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s-US"/>
          </a:p>
        </p:txBody>
      </p:sp>
      <p:sp>
        <p:nvSpPr>
          <p:cNvPr id="3" name="Text 1"/>
          <p:cNvSpPr/>
          <p:nvPr/>
        </p:nvSpPr>
        <p:spPr>
          <a:xfrm>
            <a:off x="365760" y="2286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Conclusiones &amp; Mejoras Futuras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</a:rPr>
              <a:t>✅ Hallazgos clave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1261872"/>
            <a:ext cx="41148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</a:rPr>
              <a:t>KDE Gaussiano superó al GaussianNB baseline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</a:rPr>
              <a:t>AUC-ROC = 0.91 vs 0.87 del baseline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</a:rPr>
              <a:t>Balanceo 3:1 en train mejoró recall de fallas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</a:rPr>
              <a:t>Kernel tophat requiere fix de epsilon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</a:rPr>
              <a:t>5-Fold CV garantiza evaluación robusta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754880" y="8686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</a:rPr>
              <a:t>🔭 Mejoras futuras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754880" y="1261872"/>
            <a:ext cx="411480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</a:rPr>
              <a:t>SMOTE en lugar de undersampling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</a:rPr>
              <a:t>Más kernels (Epanechnikov, cosine)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</a:rPr>
              <a:t>Búsqueda de bandwidth por feature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</a:rPr>
              <a:t>Comparar con Random Forest / XGBoost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E2E8F0"/>
                </a:solidFill>
              </a:rPr>
              <a:t>Deployme en entorno de producción real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3657600"/>
            <a:ext cx="8412480" cy="1143000"/>
          </a:xfrm>
          <a:prstGeom prst="rect">
            <a:avLst/>
          </a:prstGeom>
          <a:solidFill>
            <a:srgbClr val="6366F1">
              <a:alpha val="15000"/>
            </a:srgbClr>
          </a:solidFill>
          <a:ln w="12700">
            <a:solidFill>
              <a:srgbClr val="6366F1"/>
            </a:solidFill>
            <a:prstDash val="solid"/>
          </a:ln>
        </p:spPr>
        <p:txBody>
          <a:bodyPr/>
          <a:lstStyle/>
          <a:p>
            <a:endParaRPr lang="es-US"/>
          </a:p>
        </p:txBody>
      </p:sp>
      <p:sp>
        <p:nvSpPr>
          <p:cNvPr id="9" name="Text 7"/>
          <p:cNvSpPr/>
          <p:nvPr/>
        </p:nvSpPr>
        <p:spPr>
          <a:xfrm>
            <a:off x="502920" y="373075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18CF8"/>
                </a:solidFill>
              </a:rPr>
              <a:t>💡 Conclusión principal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406908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2E8F0"/>
                </a:solidFill>
              </a:rPr>
              <a:t>Un clasificador Naive Bayes con KDE permite modelar distribuciones reales sin suposiciones fuertes de normalidad, logrando mejor capacidad de detección de fallas en datasets industriales desbalanceados.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781</Words>
  <Application>Microsoft Office PowerPoint</Application>
  <PresentationFormat>Presentación en pantalla (16:9)</PresentationFormat>
  <Paragraphs>163</Paragraphs>
  <Slides>9</Slides>
  <Notes>9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5" baseType="lpstr">
      <vt:lpstr>Aptos</vt:lpstr>
      <vt:lpstr>Arial</vt:lpstr>
      <vt:lpstr>Calibri</vt:lpstr>
      <vt:lpstr>Consolas</vt:lpstr>
      <vt:lpstr>Georgia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Naive Bayes con KDE — Resumen 15 min</dc:title>
  <dc:subject>PptxGenJS Presentation</dc:subject>
  <dc:creator>PptxGenJS</dc:creator>
  <cp:lastModifiedBy>Melisa Calvo</cp:lastModifiedBy>
  <cp:revision>3</cp:revision>
  <dcterms:created xsi:type="dcterms:W3CDTF">2026-03-11T18:58:06Z</dcterms:created>
  <dcterms:modified xsi:type="dcterms:W3CDTF">2026-03-11T23:09:40Z</dcterms:modified>
</cp:coreProperties>
</file>